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Azeret Mono"/>
      <p:regular r:id="rId43"/>
      <p:bold r:id="rId44"/>
      <p:italic r:id="rId45"/>
      <p:boldItalic r:id="rId46"/>
    </p:embeddedFont>
    <p:embeddedFont>
      <p:font typeface="Quicksa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747775"/>
          </p15:clr>
        </p15:guide>
        <p15:guide id="2" orient="horz" pos="1680">
          <p15:clr>
            <a:srgbClr val="747775"/>
          </p15:clr>
        </p15:guide>
        <p15:guide id="3" orient="horz" pos="864">
          <p15:clr>
            <a:srgbClr val="747775"/>
          </p15:clr>
        </p15:guide>
        <p15:guide id="4" orient="horz" pos="960">
          <p15:clr>
            <a:srgbClr val="747775"/>
          </p15:clr>
        </p15:guide>
        <p15:guide id="5" orient="horz" pos="684">
          <p15:clr>
            <a:srgbClr val="747775"/>
          </p15:clr>
        </p15:guide>
        <p15:guide id="6" orient="horz" pos="2268">
          <p15:clr>
            <a:srgbClr val="747775"/>
          </p15:clr>
        </p15:guide>
        <p15:guide id="7" orient="horz" pos="2376">
          <p15:clr>
            <a:srgbClr val="747775"/>
          </p15:clr>
        </p15:guide>
        <p15:guide id="8" orient="horz" pos="93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DDF657-5B13-4423-81FA-6D5687350124}">
  <a:tblStyle styleId="{07DDF657-5B13-4423-81FA-6D5687350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1680" orient="horz"/>
        <p:guide pos="864" orient="horz"/>
        <p:guide pos="960" orient="horz"/>
        <p:guide pos="684" orient="horz"/>
        <p:guide pos="2268" orient="horz"/>
        <p:guide pos="2376" orient="horz"/>
        <p:guide pos="936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22" Type="http://schemas.openxmlformats.org/officeDocument/2006/relationships/slide" Target="slides/slide16.xml"/><Relationship Id="rId44" Type="http://schemas.openxmlformats.org/officeDocument/2006/relationships/font" Target="fonts/AzeretMono-bold.fntdata"/><Relationship Id="rId21" Type="http://schemas.openxmlformats.org/officeDocument/2006/relationships/slide" Target="slides/slide15.xml"/><Relationship Id="rId43" Type="http://schemas.openxmlformats.org/officeDocument/2006/relationships/font" Target="fonts/AzeretMono-regular.fntdata"/><Relationship Id="rId24" Type="http://schemas.openxmlformats.org/officeDocument/2006/relationships/slide" Target="slides/slide18.xml"/><Relationship Id="rId46" Type="http://schemas.openxmlformats.org/officeDocument/2006/relationships/font" Target="fonts/Azeret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Azeret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Quicksand-bold.fntdata"/><Relationship Id="rId25" Type="http://schemas.openxmlformats.org/officeDocument/2006/relationships/slide" Target="slides/slide19.xml"/><Relationship Id="rId47" Type="http://schemas.openxmlformats.org/officeDocument/2006/relationships/font" Target="fonts/Quicksand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Poppins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-italic.fntdata"/><Relationship Id="rId14" Type="http://schemas.openxmlformats.org/officeDocument/2006/relationships/slide" Target="slides/slide8.xml"/><Relationship Id="rId36" Type="http://schemas.openxmlformats.org/officeDocument/2006/relationships/font" Target="fonts/Poppins-bold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038aff6d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038aff6d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038aff6d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038aff6d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87c679f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87c679f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38aff6d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38aff6d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38aff6d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38aff6d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038aff6d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038aff6d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038aff6d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038aff6d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038aff6d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038aff6d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038aff6d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038aff6d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38aff6d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038aff6d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38aff6d3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38aff6d3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38aff6d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038aff6d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038aff6d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038aff6d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038aff6d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038aff6d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038aff6d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038aff6d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87c679f8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87c679f8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038aff6d3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038aff6d3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038aff6d3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038aff6d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038aff6d3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038aff6d3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038aff6d3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038aff6d3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038aff6d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038aff6d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038aff6d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038aff6d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038aff6d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038aff6d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hyperlink" Target="https://www.kaggle.com/datasets/andrexibiza/grocery-sales-dataset" TargetMode="Externa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hyperlink" Target="http://www.linkedin.com/in/deleonard-simanjorang" TargetMode="External"/><Relationship Id="rId7" Type="http://schemas.openxmlformats.org/officeDocument/2006/relationships/image" Target="../media/image5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hyperlink" Target="http://www.linkedin.com/in/deleonard-simanjorang" TargetMode="External"/><Relationship Id="rId5" Type="http://schemas.openxmlformats.org/officeDocument/2006/relationships/hyperlink" Target="https://www.notion.so/Deleonard-Portfolio-27fa981e9d4f80b6b194fc81fcc8b5a0?source=copy_link" TargetMode="Externa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20000" y="1613172"/>
            <a:ext cx="7704000" cy="83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Grocery Sales Performance Analysis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224975" y="2448972"/>
            <a:ext cx="4801800" cy="7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Identifying Category Revenue Drivers &amp; Recommendations to Unlock $74.5M Annual Growth</a:t>
            </a:r>
            <a:endParaRPr>
              <a:solidFill>
                <a:srgbClr val="66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13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20000" y="4039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Our Company !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4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388" y="774020"/>
            <a:ext cx="2873234" cy="19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17800" y="2191285"/>
            <a:ext cx="43542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Who Are We?</a:t>
            </a:r>
            <a:endParaRPr sz="13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FreshCo Retail is a fictional multi-store grocery retail chain offering 11 product categories, from fresh produce and dairy to confections and beverages, serving nearly 99,000 active customers.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780375" y="2374836"/>
            <a:ext cx="4128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Our Mission</a:t>
            </a:r>
            <a:endParaRPr b="1" sz="17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Make everyday groceries fresh, affordable, and within everyone’s reach.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Grow sustainably by turning transaction data into smarter category, pricing, and loyalty decisions.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720000" y="4039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18150" y="966182"/>
            <a:ext cx="36240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FreshCo generates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$4.28B in annual revenue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across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 product categories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A 5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% lift in the top-3 categories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would add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$74.5M in revenue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every year.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15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707825" y="1143823"/>
            <a:ext cx="3624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This analysis leverages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BigQuery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and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 BI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to analyze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transaction-level sales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records, pinpointing how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volume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 reach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and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pricing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drive revenue.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18150" y="2265805"/>
            <a:ext cx="36240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Confections is the #1 category with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$556.9M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revenue (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13% of total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) and the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highest repeat purchase rate at 99.85%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making it FreshCo’s loyalty powerhouse.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707825" y="2273879"/>
            <a:ext cx="36240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Revenue is volume and reach driven: categories that sell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units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and reach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unique customers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consistently outperform. The top 5 categories contribute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53% of revenue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18150" y="3541203"/>
            <a:ext cx="36240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Premium pricing limits reach: Grain carries the highest average price at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$59.6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but the lowest customer reach, revealing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price sensitivity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accessibility gaps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and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untapped mass-market potential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707825" y="3593178"/>
            <a:ext cx="362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Three data-driven recommendations are proposed to unlock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$74.5M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annual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growth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within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 months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with progress monitored via a real-time Power BI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dashboard.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525475" y="304151"/>
            <a:ext cx="7704000" cy="62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Where is our next $74.5M ?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Why category strategy is a financial priority</a:t>
            </a:r>
            <a:endParaRPr b="1"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6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p16"/>
          <p:cNvGraphicFramePr/>
          <p:nvPr/>
        </p:nvGraphicFramePr>
        <p:xfrm>
          <a:off x="525475" y="1990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{07DDF657-5B13-4423-81FA-6D5687350124}</a:tableStyleId>
              </a:tblPr>
              <a:tblGrid>
                <a:gridCol w="2697675"/>
                <a:gridCol w="2697675"/>
                <a:gridCol w="2697675"/>
              </a:tblGrid>
              <a:tr h="97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$4.28 B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Total annual revenue 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(after discount, across 11 categories)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53 %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Revenue from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top 5 categories,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led by Confections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($556.9M | 13%)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+$74.5 M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Projected annual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upside from a 5%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revenue lift in top-3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(Confections, Meat, Poultry)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/>
        </p:nvSpPr>
        <p:spPr>
          <a:xfrm>
            <a:off x="525450" y="4213375"/>
            <a:ext cx="8093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Revenue measured after discount. Projection assumes a 5% revenue lift on the top-3 categories ($1.49B base) through reach, pricing, and loyalty initiatives.</a:t>
            </a:r>
            <a:endParaRPr sz="24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25438" y="1313206"/>
            <a:ext cx="8093100" cy="498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FreshCo’s growth is concentrated: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top 5 of 11 categories generate 53% of revenue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while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premium categories reach 1,400 fewer customers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— a clear signal of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untapped growth levers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25450" y="3266759"/>
            <a:ext cx="8093100" cy="364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Projected Annual Upside: +$74.5 M by lifting top-3 category revenue 5% within 6 months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7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76650" y="1742457"/>
            <a:ext cx="44874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 sz="5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b="1" sz="5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720000" y="4039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What's driving this? - Project Background</a:t>
            </a:r>
            <a:endParaRPr b="1" sz="18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18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title="Screenshot 2026-04-21 1322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399" y="1118025"/>
            <a:ext cx="3443964" cy="268604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487475" y="4128586"/>
            <a:ext cx="34440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Revenue is highly concentrated: the top 5 of 11 categories contribute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53%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of total revenue, led by Confections at 13%.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513500" y="2709702"/>
            <a:ext cx="44433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FreshCo generates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$4.28B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in annual revenue, but leadership lacks visibility into which levers — volume, reach, or price — actually drive category performance.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440825" y="3673400"/>
            <a:ext cx="4443300" cy="8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The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5%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revenue lift on the top-3 categories is a realistic 6-month target. Achieving it would add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$74.5M in annual revenue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without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opening a single new store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7" name="Google Shape;107;p18"/>
          <p:cNvGraphicFramePr/>
          <p:nvPr/>
        </p:nvGraphicFramePr>
        <p:xfrm>
          <a:off x="4513488" y="1565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{07DDF657-5B13-4423-81FA-6D5687350124}</a:tableStyleId>
              </a:tblPr>
              <a:tblGrid>
                <a:gridCol w="1481100"/>
                <a:gridCol w="1481100"/>
                <a:gridCol w="1481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13%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Category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(Confections)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53%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5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Categories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47%</a:t>
                      </a:r>
                      <a:endParaRPr b="1" sz="12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 xml:space="preserve">Remaining 6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Categories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8"/>
          <p:cNvSpPr txBox="1"/>
          <p:nvPr/>
        </p:nvSpPr>
        <p:spPr>
          <a:xfrm>
            <a:off x="4513500" y="1204385"/>
            <a:ext cx="2557500" cy="32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Revenue Share by Category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440823" y="2244003"/>
            <a:ext cx="25575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Dataset: Kaggle Grocery Sales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720000" y="4039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Project Goals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9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778725" y="1163372"/>
            <a:ext cx="3522300" cy="477900"/>
          </a:xfrm>
          <a:prstGeom prst="rect">
            <a:avLst/>
          </a:prstGeom>
          <a:solidFill>
            <a:srgbClr val="00A4FF"/>
          </a:solidFill>
          <a:ln cap="flat" cmpd="sng" w="9525">
            <a:solidFill>
              <a:srgbClr val="00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Problem Statement</a:t>
            </a:r>
            <a:endParaRPr b="1" sz="20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842950" y="1163372"/>
            <a:ext cx="3522300" cy="477900"/>
          </a:xfrm>
          <a:prstGeom prst="rect">
            <a:avLst/>
          </a:prstGeom>
          <a:solidFill>
            <a:srgbClr val="00A4FF"/>
          </a:solidFill>
          <a:ln cap="flat" cmpd="sng" w="9525">
            <a:solidFill>
              <a:srgbClr val="00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37475" y="3158347"/>
            <a:ext cx="3522300" cy="477900"/>
          </a:xfrm>
          <a:prstGeom prst="rect">
            <a:avLst/>
          </a:prstGeom>
          <a:solidFill>
            <a:srgbClr val="00A4FF"/>
          </a:solidFill>
          <a:ln cap="flat" cmpd="sng" w="9525">
            <a:solidFill>
              <a:srgbClr val="00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Scope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901700" y="3158347"/>
            <a:ext cx="3522300" cy="477900"/>
          </a:xfrm>
          <a:prstGeom prst="rect">
            <a:avLst/>
          </a:prstGeom>
          <a:solidFill>
            <a:srgbClr val="00A4FF"/>
          </a:solidFill>
          <a:ln cap="flat" cmpd="sng" w="9525">
            <a:solidFill>
              <a:srgbClr val="00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 xml:space="preserve">Out Scope </a:t>
            </a:r>
            <a:endParaRPr b="1" sz="20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780675" y="1669229"/>
            <a:ext cx="3518400" cy="123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FreshCo’s $4.28B revenue is concentrated in a handful of categories, with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53%</a:t>
            </a:r>
            <a:r>
              <a:rPr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coming from the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top 5</a:t>
            </a: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of 11 categories — and no clear playbook for what drives category growth.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844900" y="1673268"/>
            <a:ext cx="3518400" cy="123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To identify the key drivers of category revenue and provide data-driven recommendations to grow top-3 category revenue by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5%</a:t>
            </a: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(+</a:t>
            </a:r>
            <a:r>
              <a:rPr b="1" lang="en" sz="1200">
                <a:solidFill>
                  <a:srgbClr val="00A4FF"/>
                </a:solidFill>
                <a:latin typeface="Montserrat"/>
                <a:ea typeface="Montserrat"/>
                <a:cs typeface="Montserrat"/>
                <a:sym typeface="Montserrat"/>
              </a:rPr>
              <a:t>$74.5M)</a:t>
            </a:r>
            <a:r>
              <a:rPr lang="en" sz="12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within </a:t>
            </a:r>
            <a:r>
              <a:rPr b="1"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6 months</a:t>
            </a:r>
            <a:r>
              <a:rPr lang="en" sz="12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, measured through a real-time monitoring dashboard.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839425" y="3664079"/>
            <a:ext cx="3518400" cy="123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This analysis utilized the Grocery Sales dataset from Kaggle, comprising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millions of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transaction records across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product categories. </a:t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Revenue was analyzed across all categories, with key variables including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Quantity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Price &amp; Discount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Unique Customers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and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Repeat Purchases 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Loyalty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891490" y="3664097"/>
            <a:ext cx="3518400" cy="123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Several variables were excluded from this analysis, including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store/location detail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seasonality &amp; time trends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and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profit margin (no cost data)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to keep focus on category-level revenue drivers.</a:t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Tools Used:</a:t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Google BigQuery 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(exploration &amp; analysis),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Power BI </a:t>
            </a: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(monitoring dashboard)</a:t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720000" y="4039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0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3561450" y="1494833"/>
            <a:ext cx="2021100" cy="57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&amp; Cleaning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5952275" y="1494833"/>
            <a:ext cx="2021100" cy="57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Data Analysis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2365975" y="3627368"/>
            <a:ext cx="2021100" cy="57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Insight &amp; Recommendation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56794" y="3627371"/>
            <a:ext cx="2021100" cy="57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Dashboard Development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1170625" y="1494833"/>
            <a:ext cx="2021100" cy="57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Business </a:t>
            </a: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endParaRPr b="1" sz="15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" name="Google Shape;135;p20"/>
          <p:cNvCxnSpPr>
            <a:stCxn id="134" idx="3"/>
            <a:endCxn id="130" idx="1"/>
          </p:cNvCxnSpPr>
          <p:nvPr/>
        </p:nvCxnSpPr>
        <p:spPr>
          <a:xfrm>
            <a:off x="3191725" y="1781183"/>
            <a:ext cx="369600" cy="6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0"/>
          <p:cNvCxnSpPr>
            <a:stCxn id="130" idx="3"/>
            <a:endCxn id="131" idx="1"/>
          </p:cNvCxnSpPr>
          <p:nvPr/>
        </p:nvCxnSpPr>
        <p:spPr>
          <a:xfrm>
            <a:off x="5582550" y="1781183"/>
            <a:ext cx="369600" cy="6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0"/>
          <p:cNvCxnSpPr>
            <a:stCxn id="131" idx="3"/>
            <a:endCxn id="133" idx="3"/>
          </p:cNvCxnSpPr>
          <p:nvPr/>
        </p:nvCxnSpPr>
        <p:spPr>
          <a:xfrm flipH="1">
            <a:off x="6777875" y="1781183"/>
            <a:ext cx="1195500" cy="2132400"/>
          </a:xfrm>
          <a:prstGeom prst="bentConnector3">
            <a:avLst>
              <a:gd fmla="val -19918" name="adj1"/>
            </a:avLst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0"/>
          <p:cNvCxnSpPr>
            <a:stCxn id="133" idx="1"/>
            <a:endCxn id="132" idx="3"/>
          </p:cNvCxnSpPr>
          <p:nvPr/>
        </p:nvCxnSpPr>
        <p:spPr>
          <a:xfrm flipH="1">
            <a:off x="4387194" y="3913721"/>
            <a:ext cx="3696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0"/>
          <p:cNvCxnSpPr>
            <a:stCxn id="132" idx="1"/>
            <a:endCxn id="134" idx="1"/>
          </p:cNvCxnSpPr>
          <p:nvPr/>
        </p:nvCxnSpPr>
        <p:spPr>
          <a:xfrm rot="10800000">
            <a:off x="1170475" y="1781318"/>
            <a:ext cx="1195500" cy="2132400"/>
          </a:xfrm>
          <a:prstGeom prst="bentConnector3">
            <a:avLst>
              <a:gd fmla="val 119906" name="adj1"/>
            </a:avLst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0"/>
          <p:cNvSpPr/>
          <p:nvPr/>
        </p:nvSpPr>
        <p:spPr>
          <a:xfrm>
            <a:off x="1996375" y="972833"/>
            <a:ext cx="369600" cy="369600"/>
          </a:xfrm>
          <a:prstGeom prst="rect">
            <a:avLst/>
          </a:prstGeom>
          <a:solidFill>
            <a:srgbClr val="00A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1</a:t>
            </a:r>
            <a:endParaRPr b="1" sz="18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4387200" y="972833"/>
            <a:ext cx="369600" cy="369600"/>
          </a:xfrm>
          <a:prstGeom prst="rect">
            <a:avLst/>
          </a:prstGeom>
          <a:solidFill>
            <a:srgbClr val="00A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2</a:t>
            </a:r>
            <a:endParaRPr b="1" sz="18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778025" y="972833"/>
            <a:ext cx="369600" cy="369600"/>
          </a:xfrm>
          <a:prstGeom prst="rect">
            <a:avLst/>
          </a:prstGeom>
          <a:solidFill>
            <a:srgbClr val="00A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3</a:t>
            </a:r>
            <a:endParaRPr b="1" sz="18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3191725" y="3105368"/>
            <a:ext cx="369600" cy="369600"/>
          </a:xfrm>
          <a:prstGeom prst="rect">
            <a:avLst/>
          </a:prstGeom>
          <a:solidFill>
            <a:srgbClr val="00A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5</a:t>
            </a:r>
            <a:endParaRPr b="1" sz="18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582550" y="3105368"/>
            <a:ext cx="369600" cy="369600"/>
          </a:xfrm>
          <a:prstGeom prst="rect">
            <a:avLst/>
          </a:prstGeom>
          <a:solidFill>
            <a:srgbClr val="00A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4</a:t>
            </a:r>
            <a:endParaRPr b="1" sz="1800">
              <a:solidFill>
                <a:srgbClr val="FFFFFF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cxnSp>
        <p:nvCxnSpPr>
          <p:cNvPr id="145" name="Google Shape;145;p20"/>
          <p:cNvCxnSpPr>
            <a:stCxn id="140" idx="2"/>
            <a:endCxn id="134" idx="0"/>
          </p:cNvCxnSpPr>
          <p:nvPr/>
        </p:nvCxnSpPr>
        <p:spPr>
          <a:xfrm>
            <a:off x="2181175" y="1342433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0"/>
          <p:cNvCxnSpPr>
            <a:stCxn id="141" idx="2"/>
            <a:endCxn id="130" idx="0"/>
          </p:cNvCxnSpPr>
          <p:nvPr/>
        </p:nvCxnSpPr>
        <p:spPr>
          <a:xfrm>
            <a:off x="4572000" y="1342433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>
            <a:stCxn id="142" idx="2"/>
            <a:endCxn id="131" idx="0"/>
          </p:cNvCxnSpPr>
          <p:nvPr/>
        </p:nvCxnSpPr>
        <p:spPr>
          <a:xfrm>
            <a:off x="6962825" y="1342433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>
            <a:stCxn id="144" idx="2"/>
            <a:endCxn id="133" idx="0"/>
          </p:cNvCxnSpPr>
          <p:nvPr/>
        </p:nvCxnSpPr>
        <p:spPr>
          <a:xfrm>
            <a:off x="5767350" y="3474968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>
            <a:stCxn id="143" idx="2"/>
            <a:endCxn id="132" idx="0"/>
          </p:cNvCxnSpPr>
          <p:nvPr/>
        </p:nvCxnSpPr>
        <p:spPr>
          <a:xfrm>
            <a:off x="3376525" y="3474968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1D2A3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0"/>
          <p:cNvSpPr/>
          <p:nvPr/>
        </p:nvSpPr>
        <p:spPr>
          <a:xfrm>
            <a:off x="1170625" y="2064024"/>
            <a:ext cx="2021100" cy="750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Define business problem &amp; SMART objective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Tools :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BigQuery</a:t>
            </a:r>
            <a:endParaRPr b="1"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561450" y="2068586"/>
            <a:ext cx="2021100" cy="750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Check missing values, duplicates &amp; inconsistent values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Tools :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b="1"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5952275" y="2064011"/>
            <a:ext cx="2021100" cy="750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Identify revenue patterns &amp; key drivers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Tools :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BigQuery</a:t>
            </a:r>
            <a:endParaRPr b="1"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2365975" y="4200061"/>
            <a:ext cx="2021100" cy="750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8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Translate findings into actionable recommendations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Output :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Business Insights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756800" y="4200061"/>
            <a:ext cx="2021100" cy="750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8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Build KPI Monitoring dashboard in Power BI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Tools : </a:t>
            </a:r>
            <a:r>
              <a:rPr b="1" lang="en" sz="1000">
                <a:solidFill>
                  <a:srgbClr val="1D2A3B"/>
                </a:solidFill>
                <a:latin typeface="Montserrat"/>
                <a:ea typeface="Montserrat"/>
                <a:cs typeface="Montserrat"/>
                <a:sym typeface="Montserrat"/>
              </a:rPr>
              <a:t>Power BI</a:t>
            </a:r>
            <a:endParaRPr sz="800">
              <a:solidFill>
                <a:srgbClr val="1D2A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21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476650" y="1742457"/>
            <a:ext cx="44874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>Deep Dive Analysis</a:t>
            </a:r>
            <a:endParaRPr b="1" sz="5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/>
        </p:nvSpPr>
        <p:spPr>
          <a:xfrm>
            <a:off x="487475" y="38534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What does data tell us? — Category Revenue</a:t>
            </a:r>
            <a:endParaRPr b="1" sz="22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22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4612375" y="1817722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Finding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Confections is the highest-revenue category at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$556.9M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(13% of total),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and the top 5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categories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contribute </a:t>
            </a:r>
            <a:r>
              <a:rPr b="1" lang="en" sz="1200">
                <a:solidFill>
                  <a:srgbClr val="00A4FF"/>
                </a:solidFill>
                <a:latin typeface="Montserrat"/>
                <a:ea typeface="Montserrat"/>
                <a:cs typeface="Montserrat"/>
                <a:sym typeface="Montserrat"/>
              </a:rPr>
              <a:t>53%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4612375" y="2999447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Revenue is concentrated in a few winning categories. Protecting and growing these winners is the fastest path to overall growth.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2" title="Screenshot 2026-04-21 1556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75" y="1344984"/>
            <a:ext cx="3540075" cy="23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487475" y="38534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What does data tell us? — Volume &amp; Customer Reach</a:t>
            </a:r>
            <a:endParaRPr b="1" sz="18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23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4612375" y="1817722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Finding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Categories selling more units and reaching more customers earn more: Confections leads with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11.08M units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sold and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98,743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unique customers, the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highest reach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in the dataset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4612375" y="2999447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Both correlations are strongly positive: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volume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and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reach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are the two primary levers for category revenue growth.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3" title="Screenshot 2026-04-21 1603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75" y="962975"/>
            <a:ext cx="2764475" cy="19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title="Screenshot 2026-04-21 1604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475" y="2948022"/>
            <a:ext cx="3301365" cy="163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487475" y="38534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What does data tell us? — Pricing &amp; Reach</a:t>
            </a:r>
            <a:endParaRPr b="1" sz="2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24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4612375" y="1817722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Finding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Grain carries the highest average unit price at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$59.6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yet the lowest reach at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97,335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customers, roughly </a:t>
            </a:r>
            <a:r>
              <a:rPr b="1" lang="en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1,400 fewer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than top categories.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4612375" y="2999447"/>
            <a:ext cx="43164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Higher prices correlate with lower customer reach. Premium categories are leaving mass-market demand untapped.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24" title="Screenshot 2026-04-21 1322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74" y="1118025"/>
            <a:ext cx="3443964" cy="2686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/>
        </p:nvSpPr>
        <p:spPr>
          <a:xfrm>
            <a:off x="487475" y="250465"/>
            <a:ext cx="7704000" cy="6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How do we track progress?</a:t>
            </a:r>
            <a:endParaRPr b="1" sz="2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Real-time Sales Performance Dashboard </a:t>
            </a:r>
            <a:endParaRPr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9" name="Google Shape;199;p25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 title="Screenshot 2026-04-21 1618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86" y="836925"/>
            <a:ext cx="5601424" cy="31023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/>
        </p:nvSpPr>
        <p:spPr>
          <a:xfrm>
            <a:off x="6451325" y="974272"/>
            <a:ext cx="2510400" cy="86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KPI Cards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metrics: Total Revenue, Top Category Share &amp; Repeat Purchase Rate at a glance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2" name="Google Shape;202;p25"/>
          <p:cNvCxnSpPr>
            <a:endCxn id="201" idx="1"/>
          </p:cNvCxnSpPr>
          <p:nvPr/>
        </p:nvCxnSpPr>
        <p:spPr>
          <a:xfrm>
            <a:off x="6038825" y="1340122"/>
            <a:ext cx="412500" cy="6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5"/>
          <p:cNvSpPr txBox="1"/>
          <p:nvPr/>
        </p:nvSpPr>
        <p:spPr>
          <a:xfrm>
            <a:off x="6451325" y="1993150"/>
            <a:ext cx="2510400" cy="78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Bar Charts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Revenue breakdown by category, identifying winners and underperformers instantly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" name="Google Shape;204;p25"/>
          <p:cNvCxnSpPr>
            <a:endCxn id="203" idx="1"/>
          </p:cNvCxnSpPr>
          <p:nvPr/>
        </p:nvCxnSpPr>
        <p:spPr>
          <a:xfrm>
            <a:off x="6038825" y="2319700"/>
            <a:ext cx="412500" cy="6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5"/>
          <p:cNvSpPr txBox="1"/>
          <p:nvPr/>
        </p:nvSpPr>
        <p:spPr>
          <a:xfrm>
            <a:off x="6451325" y="3014500"/>
            <a:ext cx="2510400" cy="78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Scatter &amp; Table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Price-vs-reach analysis and top customer tracking for pricing and loyalty actions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6" name="Google Shape;206;p25"/>
          <p:cNvCxnSpPr>
            <a:endCxn id="205" idx="1"/>
          </p:cNvCxnSpPr>
          <p:nvPr/>
        </p:nvCxnSpPr>
        <p:spPr>
          <a:xfrm>
            <a:off x="6038825" y="3341050"/>
            <a:ext cx="412500" cy="6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5"/>
          <p:cNvSpPr txBox="1"/>
          <p:nvPr/>
        </p:nvSpPr>
        <p:spPr>
          <a:xfrm>
            <a:off x="487538" y="4037650"/>
            <a:ext cx="5601300" cy="54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 Goal :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Monitor progress toward the +$74.5M target across all key growth levers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26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 txBox="1"/>
          <p:nvPr/>
        </p:nvSpPr>
        <p:spPr>
          <a:xfrm>
            <a:off x="476650" y="1742450"/>
            <a:ext cx="67215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>Insight &amp;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435100" y="28109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Reach &amp; Volume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435000" y="1822975"/>
            <a:ext cx="37314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Why This Happens : </a:t>
            </a:r>
            <a:endParaRPr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Reach gaps are often a symptom of: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Promotions not reaching new shoppers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- Weak cross-category exposure,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 shoppers stick to habitual aisles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Underused bundling between high-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 loyalty and low-reach categories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- Promo budget spread evenly instead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 of focusing on winnable categories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Risk if Unaddressed</a:t>
            </a: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 </a:t>
            </a:r>
            <a:endParaRPr b="1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Growth stalls at $4.28B while competitors capture mass-market demand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Every quarter of inaction defers ~$18.6M of the projected annual upside.</a:t>
            </a:r>
            <a:endParaRPr b="1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4710300" y="2025272"/>
            <a:ext cx="3628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endParaRPr b="1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Targeted Promotions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Focus promo &amp; sampling budget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on top categories (Confections, Meat, Poultry) to convert their high reach into higher purchase frequency.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Tool: Category promo calendar + A/B testing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Cross-selling &amp; Bundling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Bundle high-loyalty Confections with lower-reach categories to lift units per basket and expose shoppers to new aisles.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Tool: Market-basket analysis in BigQuery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p27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-18571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435000" y="896481"/>
            <a:ext cx="7566900" cy="86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Key Finding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Volume and reach are the strongest revenue drivers: top categories sell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11M+ units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to nearly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99K customers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.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A 5% lift on the top-3 categories = +$74.5M/year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/>
        </p:nvSpPr>
        <p:spPr>
          <a:xfrm>
            <a:off x="435100" y="28109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Premium Pricing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435100" y="1141045"/>
            <a:ext cx="3576000" cy="25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Finding : </a:t>
            </a:r>
            <a:endParaRPr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Grain is priced at </a:t>
            </a:r>
            <a:r>
              <a:rPr b="1" lang="en" sz="1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$59.6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per unit, about </a:t>
            </a:r>
            <a:r>
              <a:rPr b="1" lang="en" sz="1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18%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 above the portfolio average, but reaches </a:t>
            </a:r>
            <a:r>
              <a:rPr b="1" lang="en" sz="1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1,400 fewer customers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than mass categories.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Risk if Unaddressed : </a:t>
            </a:r>
            <a:endParaRPr b="1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Keeping premium categories inaccessible will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 their growth at the smallest customer base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and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leave mass-market demand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open for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competitors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4710300" y="1266262"/>
            <a:ext cx="3628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endParaRPr b="1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Tiered Pricing Introduce entry-size packs and mid-tier SKUs in Grain and Dairy to widen reach without eroding the premium positioning of existing products.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Tool: Price ladder &amp; pack architecture review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Price Sensitivity Testing Pilot targeted discounts in selected stores and measure reach elasticity before rolling out changes portfolio-wide.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Tool: Controlled pricing experiments (test vs control)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28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0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435100" y="3876307"/>
            <a:ext cx="7903500" cy="708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Expected Impact :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Lift Grain customer reach from 97.3K → 98.3K+ within 6 months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/>
        </p:nvSpPr>
        <p:spPr>
          <a:xfrm>
            <a:off x="435100" y="28109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Loyalty &amp; Top Customers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435000" y="1485900"/>
            <a:ext cx="4062600" cy="339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Opportunity Hypothesis</a:t>
            </a:r>
            <a:r>
              <a:rPr b="1" lang="en" sz="13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 </a:t>
            </a:r>
            <a:endParaRPr sz="9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 xml:space="preserve">Repeat rates are uniformly high, so loyalty itself is not the problem — the untapped value lies in monetizing it </a:t>
            </a: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Hypothesis 1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Loyal shoppers buy frequently but from a narrow range of aisles; personalized cross-category offers could expand baskets.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Hypothesis 2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Top customers (up to $130K lifetime value) receive the same generic treatment as everyone else, leaving high-value retention to chance.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Risk if Unaddressed : </a:t>
            </a:r>
            <a:endParaRPr b="1" sz="13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High-value customers remain unrecognized and vulnerable to competitor offers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Losing a single top-10 customer erases six figures of reliable annual revenue.</a:t>
            </a:r>
            <a:endParaRPr b="1" sz="13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710300" y="2025272"/>
            <a:ext cx="36282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endParaRPr b="1" sz="13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AutoNum type="arabicPeriod"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Loyalty Program Launch a points program anchored on Confections (99.85% repeat rate) to reward frequency and incentivize cross-category redemption. 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Tool: RFM segmentation in BigQuery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AutoNum type="arabicPeriod"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VIP Top-Customer Program Identify the top 1% of customers by lifetime value and serve them tailored offers, early access, and dedicated service. 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Tool: Customer lifetime value ranking + personalized campaigns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p29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-18571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/>
        </p:nvSpPr>
        <p:spPr>
          <a:xfrm>
            <a:off x="503650" y="808801"/>
            <a:ext cx="7566900" cy="86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Key Finding :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Confections holds the highest repeat purchase rate at 99.85%, and the #1 customer (ID 94800) has contributed $130,324 in lifetime revenue.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p30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476650" y="1742450"/>
            <a:ext cx="67215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 xml:space="preserve">Conclusion &amp; 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/>
        </p:nvSpPr>
        <p:spPr>
          <a:xfrm>
            <a:off x="435100" y="281097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Next Steps</a:t>
            </a:r>
            <a:endParaRPr b="1" sz="24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139500" y="965921"/>
            <a:ext cx="886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FreshCo’s $4.28B revenue is concentrated in 5 winning categories. Three targeted interventions are projected to add $74.5M annually within 6 months.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7" name="Google Shape;257;p31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-153417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/>
        </p:nvSpPr>
        <p:spPr>
          <a:xfrm>
            <a:off x="435100" y="4253359"/>
            <a:ext cx="7903500" cy="708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What's the ROI?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: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Lift top-3 revenue by 5% | Add $74.5 M / year | Monitored via Dashboard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9" name="Google Shape;259;p31"/>
          <p:cNvGrpSpPr/>
          <p:nvPr/>
        </p:nvGrpSpPr>
        <p:grpSpPr>
          <a:xfrm>
            <a:off x="1690779" y="1534029"/>
            <a:ext cx="5762441" cy="2529594"/>
            <a:chOff x="2098000" y="2258737"/>
            <a:chExt cx="4948000" cy="1453038"/>
          </a:xfrm>
        </p:grpSpPr>
        <p:sp>
          <p:nvSpPr>
            <p:cNvPr id="260" name="Google Shape;260;p31"/>
            <p:cNvSpPr/>
            <p:nvPr/>
          </p:nvSpPr>
          <p:spPr>
            <a:xfrm>
              <a:off x="2098000" y="2263375"/>
              <a:ext cx="1500900" cy="1448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Month 1 &amp; 2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Implement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Launch promo 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calendar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 &amp; bundling 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pilots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Design tiered pricing pilot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Build loyalty &amp; VIP program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821550" y="2263375"/>
              <a:ext cx="1500900" cy="1448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Month 3 &amp; 4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Monitor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Track revenue lift via dashboard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Measure reach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&amp; basket size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Validate hypothesis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5545100" y="2258737"/>
              <a:ext cx="1500900" cy="1448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Month 5 &amp; 6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 xml:space="preserve">Evaluate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Measure revenue lift vs +5% target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Adjust strategies if needed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Report ROI to stakeholder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/>
        </p:nvSpPr>
        <p:spPr>
          <a:xfrm>
            <a:off x="1617750" y="2047413"/>
            <a:ext cx="5908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sz="6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LinkedIn logo initials.png - Wikipedia" id="268" name="Google Shape;2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882" y="3689150"/>
            <a:ext cx="289824" cy="28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rkas:WhatsApp.svg - Wikipedia bahasa Indonesia, ensiklopedia bebas" id="269" name="Google Shape;2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434" y="3717299"/>
            <a:ext cx="289071" cy="28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rkas:Gmail icon (2020).svg - Wikipedia bahasa Indonesia ..." id="270" name="Google Shape;27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0084" y="3737211"/>
            <a:ext cx="289078" cy="21680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/>
        </p:nvSpPr>
        <p:spPr>
          <a:xfrm>
            <a:off x="2116356" y="3720511"/>
            <a:ext cx="2862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50" lIns="35050" spcFirstLastPara="1" rIns="35050" wrap="square" tIns="35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9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WhatsApp &amp; Phone</a:t>
            </a:r>
            <a:endParaRPr b="1"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 xml:space="preserve">+62 </a:t>
            </a:r>
            <a:r>
              <a:rPr lang="en" sz="690">
                <a:latin typeface="Quicksand"/>
                <a:ea typeface="Quicksand"/>
                <a:cs typeface="Quicksand"/>
                <a:sym typeface="Quicksand"/>
              </a:rPr>
              <a:t>812 4154 4992</a:t>
            </a:r>
            <a:endParaRPr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4089478" y="3700700"/>
            <a:ext cx="1688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50" lIns="35050" spcFirstLastPara="1" rIns="35050" wrap="square" tIns="35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9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LinkedIn</a:t>
            </a:r>
            <a:endParaRPr b="1"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Deleonard Simanjorang</a:t>
            </a:r>
            <a:endParaRPr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6095381" y="3703925"/>
            <a:ext cx="129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50" lIns="35050" spcFirstLastPara="1" rIns="35050" wrap="square" tIns="35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9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Email</a:t>
            </a:r>
            <a:endParaRPr b="1"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">
                <a:latin typeface="Quicksand"/>
                <a:ea typeface="Quicksand"/>
                <a:cs typeface="Quicksand"/>
                <a:sym typeface="Quicksand"/>
              </a:rPr>
              <a:t>deleonard20</a:t>
            </a:r>
            <a:r>
              <a:rPr lang="en" sz="69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@gmail.com</a:t>
            </a:r>
            <a:endParaRPr sz="69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74" name="Google Shape;274;p32" title="TransitIQ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0997" y="139425"/>
            <a:ext cx="2862002" cy="1907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167500" y="226642"/>
            <a:ext cx="44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Sales Analytics Project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0" name="Google Shape;280;p33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250" y="-157675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/>
        </p:nvSpPr>
        <p:spPr>
          <a:xfrm>
            <a:off x="476650" y="1742450"/>
            <a:ext cx="67215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Montserrat"/>
                <a:ea typeface="Montserrat"/>
                <a:cs typeface="Montserrat"/>
                <a:sym typeface="Montserrat"/>
              </a:rPr>
              <a:t>Appendix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1945950" y="4005150"/>
            <a:ext cx="525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FreshCo Retail | Deleonard Simanjorang | 2026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/>
        </p:nvSpPr>
        <p:spPr>
          <a:xfrm>
            <a:off x="443875" y="4478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Appendix A — References &amp; Data Source</a:t>
            </a:r>
            <a:endParaRPr b="1" sz="21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8" name="Google Shape;288;p34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0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 txBox="1"/>
          <p:nvPr/>
        </p:nvSpPr>
        <p:spPr>
          <a:xfrm>
            <a:off x="513838" y="1547150"/>
            <a:ext cx="3576000" cy="21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Dataset </a:t>
            </a:r>
            <a:endParaRPr b="1"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Grocery Sales Dataset (public)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Source : Kaggle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Link : kaggle.com/datasets/andrexibiza/ grocery-sales-dataset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Tables : sales, products, categories, customers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Scope : 11 product categories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4501913" y="1257499"/>
            <a:ext cx="3576000" cy="21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Notes &amp; References </a:t>
            </a:r>
            <a:endParaRPr b="1"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1. FreshCo Retail is a fictional company created for analytical and portfolio purposes.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 xml:space="preserve">2. Revenue calculated after discount: quantity × price × (1 − discount).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3. Analysis performed in Google BigQuery; monetary values follow the dataset’s original units.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/>
        </p:nvSpPr>
        <p:spPr>
          <a:xfrm>
            <a:off x="443875" y="377426"/>
            <a:ext cx="7704000" cy="6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Appendix B — Key SQL Queries</a:t>
            </a:r>
            <a:endParaRPr b="1" sz="21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BigQuery queries used for analysis</a:t>
            </a:r>
            <a:endParaRPr b="1" sz="12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6" name="Google Shape;296;p35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0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5"/>
          <p:cNvSpPr txBox="1"/>
          <p:nvPr/>
        </p:nvSpPr>
        <p:spPr>
          <a:xfrm>
            <a:off x="443875" y="1214447"/>
            <a:ext cx="3576000" cy="16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-- Revenue by Category (After Discount)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SELECT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c.categoryname,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ROUND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SUM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(s.quantity * p.price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* (1 - s.discount)), 0)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total_revenue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FROM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freshco_ds.sales 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freshco_ds.products p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(productid)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freshco_ds.categories c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(categoryid)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GROUP BY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ORDER BY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2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DESC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4318425" y="1359789"/>
            <a:ext cx="4515300" cy="16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-- Customer Reach &amp; Avg Price per Category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SELECT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c.categoryname,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COUNT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DISTINCT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s.customerid)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unique_customers,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ROUND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AVG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(p.price * (1 - s.discount)), 2)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avg_price_per_unit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FROM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freshco_ds.sales 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freshco_ds.products p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(productid)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freshco_ds.categories c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(categoryid)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GROUP BY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443875" y="3003743"/>
            <a:ext cx="3874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-- Repeat Purchase Rate per Category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WITH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cust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(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SELECT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c.categoryname, s.customerid,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COUNT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(*)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purchases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FROM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freshco_ds.sales 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freshco_ds.products p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(productid)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JOIN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freshco_ds.categories c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USING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(categoryid)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GROUP BY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1, 2 )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SELECT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categoryname,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ROUND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COUNTIF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(purchases &gt; 1) /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COUNT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(*), 4)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repeat_purchase_rate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FROM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cust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GROUP BY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/>
        </p:nvSpPr>
        <p:spPr>
          <a:xfrm>
            <a:off x="443875" y="447872"/>
            <a:ext cx="7704000" cy="52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Appendix C — About the Analyst</a:t>
            </a:r>
            <a:endParaRPr b="1" sz="21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p36" title="TransitI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425" y="0"/>
            <a:ext cx="2246577" cy="14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6"/>
          <p:cNvSpPr txBox="1"/>
          <p:nvPr/>
        </p:nvSpPr>
        <p:spPr>
          <a:xfrm>
            <a:off x="4571875" y="1090075"/>
            <a:ext cx="35760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Deleonard Simanjorang</a:t>
            </a:r>
            <a:endParaRPr b="1"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Data Analyst | Business &amp; People Analytics</a:t>
            </a:r>
            <a:endParaRPr b="1"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Background in HR &amp; Business Operations,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transitioning into data analytics with focus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business analytics, people analytics,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operational efficiency.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Technical Skills SQL (MySQL, BigQuery) · Python · Power BI Tableau · Excel · Data Visualization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Certifications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· Business Intelligence Analyst — Digital Skola (2026)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· Full Stack Data Analytics — RevoU (2025)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· Microsoft Excel Mastery — Digital Skola (2026)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Links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LinkedIn :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 xml:space="preserve">Deleonard Simanjorang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Portfolio : [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Link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Email : deleonard20@gmail.com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7" name="Google Shape;307;p36" title="PP Abu-ab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4650" y="1016675"/>
            <a:ext cx="2512527" cy="33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